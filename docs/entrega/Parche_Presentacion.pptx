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5e9be1d-c000-9dfd-35c4-5957e72a7dfb}">
          <p14:sldIdLst>
            <p14:sldId id="256"/>
          </p14:sldIdLst>
        </p14:section>
        <p14:section name="Problema" id="{1f543471-231d-b44a-09c3-5290551c62bb}">
          <p14:sldIdLst>
            <p14:sldId id="257"/>
          </p14:sldIdLst>
        </p14:section>
        <p14:section name="Solución" id="{bbdd1d21-a51a-997e-8845-b6008caa3568}">
          <p14:sldIdLst>
            <p14:sldId id="258"/>
            <p14:sldId id="259"/>
            <p14:sldId id="260"/>
            <p14:sldId id="261"/>
          </p14:sldIdLst>
        </p14:section>
        <p14:section name="Diferencial" id="{deb5a50d-d17a-20ab-90f4-e55722af48ea}">
          <p14:sldIdLst>
            <p14:sldId id="262"/>
          </p14:sldIdLst>
        </p14:section>
        <p14:section name="Tecnología" id="{30ac2663-4408-9888-88eb-310fe01aa085}">
          <p14:sldIdLst>
            <p14:sldId id="263"/>
          </p14:sldIdLst>
        </p14:section>
        <p14:section name="Impacto" id="{bebc0799-21d7-424c-2827-9ab0b3c9e73e}">
          <p14:sldIdLst>
            <p14:sldId id="264"/>
          </p14:sldIdLst>
        </p14:section>
        <p14:section name="Cierre" id="{b1a65b53-dcce-76f3-1a67-e0a389cd124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Parche conecta a estudiantes La Salle de Colombia y Perú por lo que saben y lo que quieren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589520" y="4754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hapinero" descr="/tmp/claude-0/-home-claude/e6d21fb2-3ef0-52ff-b5fa-2037b2bfa949/scratchpad/deck/plaza.jp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28816" y="448056"/>
            <a:ext cx="1938528" cy="4067439"/>
          </a:xfrm>
          <a:prstGeom prst="roundRect">
            <a:avLst>
              <a:gd name="adj" fmla="val 8491"/>
            </a:avLst>
          </a:prstGeom>
          <a:solidFill>
            <a:srgbClr val="0E1626"/>
          </a:solidFill>
          <a:ln/>
          <a:effectLst>
            <a:outerShdw sx="100000" sy="100000" kx="0" ky="0" algn="bl" rotWithShape="0" blurRad="152400" dist="50800" dir="5400000">
              <a:srgbClr val="033259">
                <a:alpha val="25000"/>
              </a:srgbClr>
            </a:outerShdw>
          </a:effectLst>
        </p:spPr>
      </p:sp>
      <p:pic>
        <p:nvPicPr>
          <p:cNvPr id="4" name="Pantalla de inicio" descr="/tmp/claude-0/-home-claude/e6d21fb2-3ef0-52ff-b5fa-2037b2bfa949/scratchpad/shots/02-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02920"/>
            <a:ext cx="1828800" cy="395771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40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</a:t>
            </a:r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 que conectan La Salle: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campus al territorio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5"/>
                </a:solidFill>
              </a:rPr>
              <a:t>Comunidades, mentoría entre pares y retos rurales para la red La Salle de Colombia y Perú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Evento Internacional de Innovación Tecnológica · Metaverso Unisalle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5"/>
                </a:solidFill>
              </a:rPr>
              <a:t>José Luis Hancco Valencia y Roger Infa Sanchez · Ingeniería de Software, Universidad La Salle (Arequipa)</a:t>
            </a:r>
            <a:endParaRPr lang="en-US" sz="12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aprenden solos; el territorio espera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74520" cy="20116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8,97 %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1488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deserción anual en educación superior en Colombia (SPADIES, 2023)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874520" cy="20116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70632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11,5 %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70632" y="21488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interrupción de estudios universitarios en Perú (Minedu, 2021-1)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3F1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56,9 %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1488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hogares rurales de Colombia con internet (DANE, 2025)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188720"/>
            <a:ext cx="1874520" cy="2011680"/>
          </a:xfrm>
          <a:prstGeom prst="roundRect">
            <a:avLst>
              <a:gd name="adj" fmla="val 5854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85432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1488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proyectos productivos rurales de jóvenes de Utopía en 137 municipios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Una red fragmentada: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cerca de 14 000 estudiantes en cuatro sedes de Unisalle, más Unilasallista y ULASALLE, sin un espacio común para colaborar.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 crear una comunidad estudiantil cuesta: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requiere un líder, un equipo núcleo y meses de constancia.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Fuentes: SPADIES (vía Bancolombia), Minedu SIRIES, DANE ECV 2025 (MinTIC), Universidad de La Salle.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app, tres pilares, una 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Conectamos a estudiantes La Salle de Colombia y Perú por lo que saben y lo que quieren resolver, para que nadie aprenda solo y la ingeniería llegue al territorio rural.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2331720"/>
          </a:xfrm>
          <a:prstGeom prst="roundRect">
            <a:avLst>
              <a:gd name="adj" fmla="val 5490"/>
            </a:avLst>
          </a:prstGeom>
          <a:solidFill>
            <a:schemeClr val="tx2"/>
          </a:solidFill>
          <a:ln w="12700">
            <a:solidFill>
              <a:srgbClr val="3A5F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6403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3931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</a:rPr>
              <a:t>Crea y haz crecer clubes, semilleros y grupos de estudio con una ruta guiada.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2240280"/>
            <a:ext cx="2560320" cy="2331720"/>
          </a:xfrm>
          <a:prstGeom prst="roundRect">
            <a:avLst>
              <a:gd name="adj" fmla="val 5490"/>
            </a:avLst>
          </a:prstGeom>
          <a:solidFill>
            <a:schemeClr val="accent2"/>
          </a:solidFill>
          <a:ln w="12700">
            <a:solidFill>
              <a:srgbClr val="3A5F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264033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Mentoría entre pares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63931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</a:rPr>
              <a:t>Tu duda llega a quien sabe del tema, en cualquier sede o país. Horas certificadas.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2240280"/>
            <a:ext cx="2560320" cy="2331720"/>
          </a:xfrm>
          <a:prstGeom prst="roundRect">
            <a:avLst>
              <a:gd name="adj" fmla="val 5490"/>
            </a:avLst>
          </a:prstGeom>
          <a:solidFill>
            <a:schemeClr val="accent3"/>
          </a:solidFill>
          <a:ln w="12700">
            <a:solidFill>
              <a:srgbClr val="3A5F8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264033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del territorio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363931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</a:rPr>
              <a:t>Equipos interuniversitarios resuelven problemas reales de comunidades rurales.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Comunidades: de la idea a una comunidad 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0936" y="996696"/>
            <a:ext cx="1709928" cy="3572725"/>
          </a:xfrm>
          <a:prstGeom prst="roundRect">
            <a:avLst>
              <a:gd name="adj" fmla="val 9626"/>
            </a:avLst>
          </a:prstGeom>
          <a:solidFill>
            <a:srgbClr val="0E1626"/>
          </a:solidFill>
          <a:ln/>
          <a:effectLst>
            <a:outerShdw sx="100000" sy="100000" kx="0" ky="0" algn="bl" rotWithShape="0" blurRad="152400" dist="50800" dir="5400000">
              <a:srgbClr val="033259">
                <a:alpha val="25000"/>
              </a:srgbClr>
            </a:outerShdw>
          </a:effectLst>
        </p:spPr>
      </p:sp>
      <p:pic>
        <p:nvPicPr>
          <p:cNvPr id="4" name="Pantalla de comunidad" descr="/tmp/claude-0/-home-claude/e6d21fb2-3ef0-52ff-b5fa-2037b2bfa949/scratchpad/shots/05-comun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600200" cy="34629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0" y="10972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926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611880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Qué harán juntos y para quién.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26080" y="1810512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2608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1792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núcleo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Al menos 3 personas que lideran.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26080" y="252374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2608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505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evento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Taller, repaso o bootcamp.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926080" y="32369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92608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6118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 miembros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La comunidad pasa a "activa".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1097280"/>
            <a:ext cx="2423160" cy="3337560"/>
          </a:xfrm>
          <a:prstGeom prst="roundRect">
            <a:avLst>
              <a:gd name="adj" fmla="val 4528"/>
            </a:avLst>
          </a:prstGeom>
          <a:solidFill>
            <a:schemeClr val="accent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55080" y="1234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en lo que vimos en Bogotá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1810512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Estudiantes de Unisalle impulsaron la comunidad AWS Student Builder Group: comunidad estudiantil de cloud, "poner en práctica más que teoría", con equipo núcleo y un compromiso de 12 meses. Parche convierte ese camino en pasos que cualquier líder puede seguir.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Mentoría entre pares: nadie aprende solo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65976" y="996696"/>
            <a:ext cx="1709928" cy="3572725"/>
          </a:xfrm>
          <a:prstGeom prst="roundRect">
            <a:avLst>
              <a:gd name="adj" fmla="val 9626"/>
            </a:avLst>
          </a:prstGeom>
          <a:solidFill>
            <a:srgbClr val="0E1626"/>
          </a:solidFill>
          <a:ln/>
          <a:effectLst>
            <a:outerShdw sx="100000" sy="100000" kx="0" ky="0" algn="bl" rotWithShape="0" blurRad="152400" dist="50800" dir="5400000">
              <a:srgbClr val="033259">
                <a:alpha val="25000"/>
              </a:srgbClr>
            </a:outerShdw>
          </a:effectLst>
        </p:spPr>
      </p:sp>
      <p:pic>
        <p:nvPicPr>
          <p:cNvPr id="4" name="Pantalla de mentoría" descr="/tmp/claude-0/-home-claude/e6d21fb2-3ef0-52ff-b5fa-2037b2bfa949/scratchpad/shots/08-mentoria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600200" cy="34629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97280"/>
            <a:ext cx="402336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152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Pides ayuda en un tema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Ej.: Cálculo, Cloud (AWS), Estadística.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402336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Llega a quien sabe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quien marcó ese tema, en cualquier sede o país.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402336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Conversan en privado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El chat solo existe dentro de esa mentoría.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4023360" cy="621792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Cierras y confirmas horas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El mentor suma puntos y horas en su constancia.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1097280"/>
            <a:ext cx="1691640" cy="2816352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9204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0,48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19202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efecto positivo de la tutoría entre pares en el rendimiento universitario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5"/>
                </a:solidFill>
              </a:rPr>
              <a:t>Meta-análisis de 27 estudios (2025)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del territorio: la ingeniería llega al campo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0936" y="996696"/>
            <a:ext cx="1709928" cy="3572725"/>
          </a:xfrm>
          <a:prstGeom prst="roundRect">
            <a:avLst>
              <a:gd name="adj" fmla="val 9626"/>
            </a:avLst>
          </a:prstGeom>
          <a:solidFill>
            <a:srgbClr val="0E1626"/>
          </a:solidFill>
          <a:ln/>
          <a:effectLst>
            <a:outerShdw sx="100000" sy="100000" kx="0" ky="0" algn="bl" rotWithShape="0" blurRad="152400" dist="50800" dir="5400000">
              <a:srgbClr val="033259">
                <a:alpha val="25000"/>
              </a:srgbClr>
            </a:outerShdw>
          </a:effectLst>
        </p:spPr>
      </p:sp>
      <p:pic>
        <p:nvPicPr>
          <p:cNvPr id="4" name="Pantalla de reto" descr="/tmp/claude-0/-home-claude/e6d21fb2-3ef0-52ff-b5fa-2037b2bfa949/scratchpad/shots/10-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600200" cy="34629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834640" y="10515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Utopía (Yopal):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más de 700 jóvenes de 28 departamentos y 453 proyectos productivos en 137 municipios. Sus problemas son retos reales para estudiantes de toda la red.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34640" y="1874520"/>
            <a:ext cx="2788920" cy="1097280"/>
          </a:xfrm>
          <a:prstGeom prst="roundRect">
            <a:avLst>
              <a:gd name="adj" fmla="val 8333"/>
            </a:avLst>
          </a:prstGeom>
          <a:solidFill>
            <a:srgbClr val="E3F1E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999232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🇨🇴 Yopal, Casanare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999232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ganado sin señal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99232" y="2624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Hato Digital · 3 universidades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60720" y="1874520"/>
            <a:ext cx="2788920" cy="1097280"/>
          </a:xfrm>
          <a:prstGeom prst="roundRect">
            <a:avLst>
              <a:gd name="adj" fmla="val 8333"/>
            </a:avLst>
          </a:prstGeom>
          <a:solidFill>
            <a:srgbClr val="E3F1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25312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🇵🇪 Coporaque, Colca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25312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temprana de heladas por SMS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25312" y="2624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Helada Cero · 3 universidades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834640" y="3108960"/>
            <a:ext cx="2788920" cy="1097280"/>
          </a:xfrm>
          <a:prstGeom prst="roundRect">
            <a:avLst>
              <a:gd name="adj" fmla="val 8333"/>
            </a:avLst>
          </a:prstGeom>
          <a:solidFill>
            <a:srgbClr val="E3F1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999232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🇨🇴 Caldas, Antioquia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999232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directa de cosechas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99232" y="3858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Del Campo a tu Mesa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60720" y="3108960"/>
            <a:ext cx="2788920" cy="1097280"/>
          </a:xfrm>
          <a:prstGeom prst="roundRect">
            <a:avLst>
              <a:gd name="adj" fmla="val 8333"/>
            </a:avLst>
          </a:prstGeom>
          <a:solidFill>
            <a:srgbClr val="E3F1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25312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🇨🇴 Sumapaz, Bogotá rural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25312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 de riego con sensores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25312" y="3858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Busca equipo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2834640" y="44348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Retos de demostración incluidos en la app; los reales se definirán con las comunidades.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con propósito, no una app de citas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FBE9E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Parche no hace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90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664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Fotos de perfil o deslizar personas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91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3042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Chats abiertos entre desconocidos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9923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Mostrar dónde está una persona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93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97280" y="35844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Premiar por publicar o sumar contactos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3840480" y="1097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234440"/>
            <a:ext cx="329184" cy="32918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407408" y="1207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saberes</a:t>
            </a:r>
            <a:endParaRPr lang="en-US" sz="1250" dirty="0"/>
          </a:p>
        </p:txBody>
      </p:sp>
      <p:sp>
        <p:nvSpPr>
          <p:cNvPr id="16" name="Text 9"/>
          <p:cNvSpPr txBox="1"/>
          <p:nvPr/>
        </p:nvSpPr>
        <p:spPr>
          <a:xfrm>
            <a:off x="3977640" y="1645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3 universidades y 2 países unidos por temas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263640" y="1097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234440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30568" y="1207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para fundar comunidades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6400800" y="1645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Pasos medibles hasta activarla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3840480" y="2240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2377440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407408" y="2350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rurales reales</a:t>
            </a:r>
            <a:endParaRPr lang="en-US" sz="1250" dirty="0"/>
          </a:p>
        </p:txBody>
      </p:sp>
      <p:sp>
        <p:nvSpPr>
          <p:cNvPr id="24" name="Text 15"/>
          <p:cNvSpPr txBox="1"/>
          <p:nvPr/>
        </p:nvSpPr>
        <p:spPr>
          <a:xfrm>
            <a:off x="39776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Equipos entre sedes urbanas y rurales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6263640" y="2240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377440"/>
            <a:ext cx="329184" cy="32918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830568" y="2350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 verificable</a:t>
            </a:r>
            <a:endParaRPr lang="en-US" sz="1250" dirty="0"/>
          </a:p>
        </p:txBody>
      </p:sp>
      <p:sp>
        <p:nvSpPr>
          <p:cNvPr id="28" name="Text 18"/>
          <p:cNvSpPr txBox="1"/>
          <p:nvPr/>
        </p:nvSpPr>
        <p:spPr>
          <a:xfrm>
            <a:off x="640080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Horas confirmadas por quien recibió ayuda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3840480" y="3383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40" y="3520440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407408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vivo</a:t>
            </a:r>
            <a:endParaRPr lang="en-US" sz="1250" dirty="0"/>
          </a:p>
        </p:txBody>
      </p:sp>
      <p:sp>
        <p:nvSpPr>
          <p:cNvPr id="32" name="Text 21"/>
          <p:cNvSpPr txBox="1"/>
          <p:nvPr/>
        </p:nvSpPr>
        <p:spPr>
          <a:xfrm>
            <a:off x="3977640" y="3931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Tablero agregado para Bienestar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263640" y="3383280"/>
            <a:ext cx="228600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520440"/>
            <a:ext cx="329184" cy="32918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30568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ligera</a:t>
            </a:r>
            <a:endParaRPr lang="en-US" sz="1250" dirty="0"/>
          </a:p>
        </p:txBody>
      </p:sp>
      <p:sp>
        <p:nvSpPr>
          <p:cNvPr id="36" name="Text 24"/>
          <p:cNvSpPr txBox="1"/>
          <p:nvPr/>
        </p:nvSpPr>
        <p:spPr>
          <a:xfrm>
            <a:off x="6400800" y="3931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Se instala sin tienda y funciona sin conexión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hoy: arquitectura 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E7EE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instalable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18 · Vite · TypeScript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Leaflet + OpenStreetMap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Caché sin conexión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944368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FFF4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984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50792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1874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Node.js 22 · Fastify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Zod · JWT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Código de acceso por correo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733288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E3F1E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9844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39712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18745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Indicadores de impacto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agregados y anónimos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116128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48640" y="338328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819656" y="3383280"/>
            <a:ext cx="109270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819656" y="3383280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pnpm monorepo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022092" y="338328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022092" y="33832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 pruebas de API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430268" y="3383280"/>
            <a:ext cx="212140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430268" y="33832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Recorrido E2E con Playwright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661404" y="3383280"/>
            <a:ext cx="1435608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661404" y="33832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Desplegable en AWS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pPr indent="0" marL="0">
              <a:buNone/>
            </a:pPr>
            <a:r>
              <a:rPr lang="en-US" sz="1300" dirty="0">
                <a:solidFill>
                  <a:srgbClr val="C9D6E5"/>
                </a:solidFill>
              </a:rPr>
              <a:t>   levanta base de datos, API y web en un solo comando. Código: github.com/jhanccov/parche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medible desde el primer día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65976" y="996696"/>
            <a:ext cx="1709928" cy="3572725"/>
          </a:xfrm>
          <a:prstGeom prst="roundRect">
            <a:avLst>
              <a:gd name="adj" fmla="val 9626"/>
            </a:avLst>
          </a:prstGeom>
          <a:solidFill>
            <a:srgbClr val="0E1626"/>
          </a:solidFill>
          <a:ln/>
          <a:effectLst>
            <a:outerShdw sx="100000" sy="100000" kx="0" ky="0" algn="bl" rotWithShape="0" blurRad="152400" dist="50800" dir="5400000">
              <a:srgbClr val="033259">
                <a:alpha val="25000"/>
              </a:srgbClr>
            </a:outerShdw>
          </a:effectLst>
        </p:spPr>
      </p:sp>
      <p:pic>
        <p:nvPicPr>
          <p:cNvPr id="4" name="Tablero de impacto" descr="/tmp/claude-0/-home-claude/e6d21fb2-3ef0-52ff-b5fa-2037b2bfa949/scratchpad/shots/11-impa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600200" cy="34629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un piloto de 8 semanas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" y="157276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031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estudiantes de ULASALLE y Unisalle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29968" y="1463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39696" y="157276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139696" y="21031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de mentoría entre pares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11296" y="1463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21024" y="157276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621024" y="21031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comunidades activas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92624" y="1463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02352" y="157276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102352" y="21031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retos rurales con equipos mixtos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852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Metas propuestas para validar con Bienestar Universitario, no resultados.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246120"/>
            <a:ext cx="1371600" cy="1051560"/>
          </a:xfrm>
          <a:prstGeom prst="rect">
            <a:avLst/>
          </a:prstGeom>
          <a:solidFill>
            <a:srgbClr val="C519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Educación de calidad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29968" y="3246120"/>
            <a:ext cx="1371600" cy="1051560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121408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2121408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Industria e innovación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511296" y="3246120"/>
            <a:ext cx="1371600" cy="1051560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02736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3602736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Menos desigualdad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92624" y="3246120"/>
            <a:ext cx="1371600" cy="1051560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84064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5084064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Alianzas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</a:t>
            </a:r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campus al territorio.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9385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Piloto en Unisalle y ULASALLE en 2027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2395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Dos retos reales con Utopía y el valle del Colca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2852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comunidad AWS de la red como primer caso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375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60120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Despliegue en AWS como taller de la comunidad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¿Hacemos el piloto juntos?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5"/>
                </a:solidFill>
              </a:rPr>
              <a:t>José Luis Hancco Valencia y Roger Infa Sanchez · Universidad La Salle, Arequipa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126480" y="914400"/>
            <a:ext cx="2468880" cy="310896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/>
        </p:spPr>
      </p:sp>
      <p:pic>
        <p:nvPicPr>
          <p:cNvPr id="15" name="QR del repositorio" descr="/tmp/claude-0/-home-claude/e6d21fb2-3ef0-52ff-b5fa-2037b2bfa949/scratchpad/poster/q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97280"/>
            <a:ext cx="1920240" cy="19202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63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Prueba la app y mira el código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626364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github.com/jhanccov/parche</a:t>
            </a:r>
            <a:endParaRPr lang="en-US" sz="11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he">
  <a:themeElements>
    <a:clrScheme name="Parche">
      <a:dk1>
        <a:srgbClr val="1B2433"/>
      </a:dk1>
      <a:lt1>
        <a:srgbClr val="FFFFFF"/>
      </a:lt1>
      <a:dk2>
        <a:srgbClr val="033259"/>
      </a:dk2>
      <a:lt2>
        <a:srgbClr val="E7EEF6"/>
      </a:lt2>
      <a:accent1>
        <a:srgbClr val="F7A800"/>
      </a:accent1>
      <a:accent2>
        <a:srgbClr val="0B4A7E"/>
      </a:accent2>
      <a:accent3>
        <a:srgbClr val="2F7D5C"/>
      </a:accent3>
      <a:accent4>
        <a:srgbClr val="B5482E"/>
      </a:accent4>
      <a:accent5>
        <a:srgbClr val="6B4C9A"/>
      </a:accent5>
      <a:accent6>
        <a:srgbClr val="FFF4D6"/>
      </a:accent6>
      <a:hlink>
        <a:srgbClr val="0B4A7E"/>
      </a:hlink>
      <a:folHlink>
        <a:srgbClr val="6B4C9A"/>
      </a:folHlink>
    </a:clrScheme>
    <a:fontScheme name="Parch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Parche - Comunidades que conectan La Salle</dc:title>
  <dc:subject>PptxGenJS Presentation</dc:subject>
  <dc:creator>José Luis Hancco Valencia</dc:creator>
  <cp:lastModifiedBy>José Luis Hancco Valencia</cp:lastModifiedBy>
  <cp:revision>1</cp:revision>
  <dcterms:created xsi:type="dcterms:W3CDTF">2026-10-28T06:40:05Z</dcterms:created>
  <dcterms:modified xsi:type="dcterms:W3CDTF">2026-10-28T06:40:05Z</dcterms:modified>
</cp:coreProperties>
</file>